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111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731520" y="685800"/>
            <a:ext cx="106986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INFORMÁTICA Y CONVERGENCIA TECNOLÓGICA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85" name="Google Shape;85;p13"/>
          <p:cNvSpPr txBox="1"/>
          <p:nvPr/>
        </p:nvSpPr>
        <p:spPr>
          <a:xfrm>
            <a:off x="914400" y="1508760"/>
            <a:ext cx="103326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Participación y democracia</a:t>
            </a:r>
            <a:br>
              <a:rPr b="0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en la era digital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1828800" y="3383280"/>
            <a:ext cx="85038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Tecnología, comunicación y violencia política en los nuevos espacios de participación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1828800" y="4892040"/>
            <a:ext cx="85038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Miguel Ángel Rodríguez Londoño</a:t>
            </a:r>
            <a:br>
              <a:rPr b="0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Administración Pública · CUN · 2026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1B2E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4"/>
          <p:cNvSpPr txBox="1"/>
          <p:nvPr/>
        </p:nvSpPr>
        <p:spPr>
          <a:xfrm>
            <a:off x="731520" y="50292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5EE7DF"/>
                </a:solidFill>
                <a:latin typeface="Arial"/>
                <a:ea typeface="Arial"/>
                <a:cs typeface="Arial"/>
                <a:sym typeface="Arial"/>
              </a:rPr>
              <a:t>RUTA DEL PROYECTO</a:t>
            </a:r>
            <a:endParaRPr/>
          </a:p>
        </p:txBody>
      </p:sp>
      <p:sp>
        <p:nvSpPr>
          <p:cNvPr id="93" name="Google Shape;93;p14"/>
          <p:cNvSpPr txBox="1"/>
          <p:nvPr/>
        </p:nvSpPr>
        <p:spPr>
          <a:xfrm>
            <a:off x="731520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E8EEF7"/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  <a:endParaRPr/>
          </a:p>
        </p:txBody>
      </p:sp>
      <p:sp>
        <p:nvSpPr>
          <p:cNvPr id="94" name="Google Shape;94;p14"/>
          <p:cNvSpPr txBox="1"/>
          <p:nvPr/>
        </p:nvSpPr>
        <p:spPr>
          <a:xfrm>
            <a:off x="822960" y="1828800"/>
            <a:ext cx="640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6677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1508760" y="1828800"/>
            <a:ext cx="45720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E8EEF7"/>
                </a:solidFill>
                <a:latin typeface="Arial"/>
                <a:ea typeface="Arial"/>
                <a:cs typeface="Arial"/>
                <a:sym typeface="Arial"/>
              </a:rPr>
              <a:t>Democracia en la era digital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6400800" y="1828800"/>
            <a:ext cx="640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6677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7086600" y="1828800"/>
            <a:ext cx="45720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E8EEF7"/>
                </a:solidFill>
                <a:latin typeface="Arial"/>
                <a:ea typeface="Arial"/>
                <a:cs typeface="Arial"/>
                <a:sym typeface="Arial"/>
              </a:rPr>
              <a:t>Violencia política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822960" y="3154680"/>
            <a:ext cx="640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6677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1508760" y="3154680"/>
            <a:ext cx="45720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E8EEF7"/>
                </a:solidFill>
                <a:latin typeface="Arial"/>
                <a:ea typeface="Arial"/>
                <a:cs typeface="Arial"/>
                <a:sym typeface="Arial"/>
              </a:rPr>
              <a:t>Manifestaciones y grupos afectados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6400800" y="3154680"/>
            <a:ext cx="640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6677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7086600" y="3154680"/>
            <a:ext cx="45720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E8EEF7"/>
                </a:solidFill>
                <a:latin typeface="Arial"/>
                <a:ea typeface="Arial"/>
                <a:cs typeface="Arial"/>
                <a:sym typeface="Arial"/>
              </a:rPr>
              <a:t>Consecuencias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822960" y="4480560"/>
            <a:ext cx="640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6677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/>
          </a:p>
        </p:txBody>
      </p:sp>
      <p:sp>
        <p:nvSpPr>
          <p:cNvPr id="103" name="Google Shape;103;p14"/>
          <p:cNvSpPr txBox="1"/>
          <p:nvPr/>
        </p:nvSpPr>
        <p:spPr>
          <a:xfrm>
            <a:off x="1508760" y="4480560"/>
            <a:ext cx="45720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E8EEF7"/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6400800" y="4480560"/>
            <a:ext cx="640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6677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7086600" y="4480560"/>
            <a:ext cx="45720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E8EEF7"/>
                </a:solidFill>
                <a:latin typeface="Arial"/>
                <a:ea typeface="Arial"/>
                <a:cs typeface="Arial"/>
                <a:sym typeface="Arial"/>
              </a:rPr>
              <a:t>Referencias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111F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5"/>
          <p:cNvSpPr txBox="1"/>
          <p:nvPr/>
        </p:nvSpPr>
        <p:spPr>
          <a:xfrm>
            <a:off x="731520" y="50292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5EE7DF"/>
                </a:solidFill>
                <a:latin typeface="Arial"/>
                <a:ea typeface="Arial"/>
                <a:cs typeface="Arial"/>
                <a:sym typeface="Arial"/>
              </a:rPr>
              <a:t>CONTEXTO</a:t>
            </a:r>
            <a:endParaRPr/>
          </a:p>
        </p:txBody>
      </p:sp>
      <p:sp>
        <p:nvSpPr>
          <p:cNvPr id="111" name="Google Shape;111;p15"/>
          <p:cNvSpPr txBox="1"/>
          <p:nvPr/>
        </p:nvSpPr>
        <p:spPr>
          <a:xfrm>
            <a:off x="731520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E8EEF7"/>
                </a:solidFill>
                <a:latin typeface="Arial"/>
                <a:ea typeface="Arial"/>
                <a:cs typeface="Arial"/>
                <a:sym typeface="Arial"/>
              </a:rPr>
              <a:t>La democracia también habita en internet</a:t>
            </a:r>
            <a:endParaRPr/>
          </a:p>
        </p:txBody>
      </p:sp>
      <p:sp>
        <p:nvSpPr>
          <p:cNvPr id="112" name="Google Shape;112;p15"/>
          <p:cNvSpPr/>
          <p:nvPr/>
        </p:nvSpPr>
        <p:spPr>
          <a:xfrm>
            <a:off x="731520" y="1828800"/>
            <a:ext cx="3474720" cy="3200400"/>
          </a:xfrm>
          <a:prstGeom prst="roundRect">
            <a:avLst>
              <a:gd fmla="val 16667" name="adj"/>
            </a:avLst>
          </a:prstGeom>
          <a:solidFill>
            <a:srgbClr val="0C1B2E"/>
          </a:solidFill>
          <a:ln cap="flat" cmpd="sng" w="9525">
            <a:solidFill>
              <a:srgbClr val="5EE7D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5"/>
          <p:cNvSpPr txBox="1"/>
          <p:nvPr/>
        </p:nvSpPr>
        <p:spPr>
          <a:xfrm>
            <a:off x="960120" y="2029968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5EE7DF"/>
                </a:solidFill>
                <a:latin typeface="Arial"/>
                <a:ea typeface="Arial"/>
                <a:cs typeface="Arial"/>
                <a:sym typeface="Arial"/>
              </a:rPr>
              <a:t>Tecnología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960120" y="2606040"/>
            <a:ext cx="3017520" cy="2240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A9B7CA"/>
                </a:solidFill>
                <a:latin typeface="Arial"/>
                <a:ea typeface="Arial"/>
                <a:cs typeface="Arial"/>
                <a:sym typeface="Arial"/>
              </a:rPr>
              <a:t>Amplía el acceso a la información y crea nuevas formas de participación ciudadana.</a:t>
            </a:r>
            <a:endParaRPr/>
          </a:p>
        </p:txBody>
      </p:sp>
      <p:sp>
        <p:nvSpPr>
          <p:cNvPr id="115" name="Google Shape;115;p15"/>
          <p:cNvSpPr/>
          <p:nvPr/>
        </p:nvSpPr>
        <p:spPr>
          <a:xfrm>
            <a:off x="4361688" y="1828800"/>
            <a:ext cx="3474720" cy="3200400"/>
          </a:xfrm>
          <a:prstGeom prst="roundRect">
            <a:avLst>
              <a:gd fmla="val 16667" name="adj"/>
            </a:avLst>
          </a:prstGeom>
          <a:solidFill>
            <a:srgbClr val="0C1B2E"/>
          </a:solidFill>
          <a:ln cap="flat" cmpd="sng" w="9525">
            <a:solidFill>
              <a:srgbClr val="FF667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5"/>
          <p:cNvSpPr txBox="1"/>
          <p:nvPr/>
        </p:nvSpPr>
        <p:spPr>
          <a:xfrm>
            <a:off x="4590288" y="2029968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6677"/>
                </a:solidFill>
                <a:latin typeface="Arial"/>
                <a:ea typeface="Arial"/>
                <a:cs typeface="Arial"/>
                <a:sym typeface="Arial"/>
              </a:rPr>
              <a:t>Comunicación</a:t>
            </a:r>
            <a:endParaRPr/>
          </a:p>
        </p:txBody>
      </p:sp>
      <p:sp>
        <p:nvSpPr>
          <p:cNvPr id="117" name="Google Shape;117;p15"/>
          <p:cNvSpPr txBox="1"/>
          <p:nvPr/>
        </p:nvSpPr>
        <p:spPr>
          <a:xfrm>
            <a:off x="4590288" y="2606040"/>
            <a:ext cx="3017520" cy="2240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A9B7CA"/>
                </a:solidFill>
                <a:latin typeface="Arial"/>
                <a:ea typeface="Arial"/>
                <a:cs typeface="Arial"/>
                <a:sym typeface="Arial"/>
              </a:rPr>
              <a:t>Las redes sociales aceleran el debate público, pero también la desinformación y el hostigamiento.</a:t>
            </a:r>
            <a:endParaRPr/>
          </a:p>
        </p:txBody>
      </p:sp>
      <p:sp>
        <p:nvSpPr>
          <p:cNvPr id="118" name="Google Shape;118;p15"/>
          <p:cNvSpPr/>
          <p:nvPr/>
        </p:nvSpPr>
        <p:spPr>
          <a:xfrm>
            <a:off x="7991856" y="1828800"/>
            <a:ext cx="3474720" cy="3200400"/>
          </a:xfrm>
          <a:prstGeom prst="roundRect">
            <a:avLst>
              <a:gd fmla="val 16667" name="adj"/>
            </a:avLst>
          </a:prstGeom>
          <a:solidFill>
            <a:srgbClr val="0C1B2E"/>
          </a:solidFill>
          <a:ln cap="flat" cmpd="sng" w="9525">
            <a:solidFill>
              <a:srgbClr val="FFC36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5"/>
          <p:cNvSpPr txBox="1"/>
          <p:nvPr/>
        </p:nvSpPr>
        <p:spPr>
          <a:xfrm>
            <a:off x="8220456" y="2029968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C36B"/>
                </a:solidFill>
                <a:latin typeface="Arial"/>
                <a:ea typeface="Arial"/>
                <a:cs typeface="Arial"/>
                <a:sym typeface="Arial"/>
              </a:rPr>
              <a:t>Democracia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8220456" y="2606040"/>
            <a:ext cx="3017520" cy="2240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A9B7CA"/>
                </a:solidFill>
                <a:latin typeface="Arial"/>
                <a:ea typeface="Arial"/>
                <a:cs typeface="Arial"/>
                <a:sym typeface="Arial"/>
              </a:rPr>
              <a:t>La participación libre necesita espacios físicos y digitales seguros, diversos e incluyentes.</a:t>
            </a:r>
            <a:endParaRPr/>
          </a:p>
        </p:txBody>
      </p:sp>
      <p:sp>
        <p:nvSpPr>
          <p:cNvPr id="121" name="Google Shape;121;p15"/>
          <p:cNvSpPr txBox="1"/>
          <p:nvPr/>
        </p:nvSpPr>
        <p:spPr>
          <a:xfrm>
            <a:off x="1097280" y="5532120"/>
            <a:ext cx="9966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A9B7CA"/>
                </a:solidFill>
                <a:latin typeface="Arial"/>
                <a:ea typeface="Arial"/>
                <a:cs typeface="Arial"/>
                <a:sym typeface="Arial"/>
              </a:rPr>
              <a:t>La tecnología ofrece oportunidades, pero también crea nuevos riesgos para la participación política.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1B2E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6"/>
          <p:cNvSpPr txBox="1"/>
          <p:nvPr/>
        </p:nvSpPr>
        <p:spPr>
          <a:xfrm>
            <a:off x="731520" y="50292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5EE7DF"/>
                </a:solidFill>
                <a:latin typeface="Arial"/>
                <a:ea typeface="Arial"/>
                <a:cs typeface="Arial"/>
                <a:sym typeface="Arial"/>
              </a:rPr>
              <a:t>CONCEPTO CENTRAL</a:t>
            </a:r>
            <a:endParaRPr/>
          </a:p>
        </p:txBody>
      </p:sp>
      <p:sp>
        <p:nvSpPr>
          <p:cNvPr id="127" name="Google Shape;127;p16"/>
          <p:cNvSpPr txBox="1"/>
          <p:nvPr/>
        </p:nvSpPr>
        <p:spPr>
          <a:xfrm>
            <a:off x="731520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E8EEF7"/>
                </a:solidFill>
                <a:latin typeface="Arial"/>
                <a:ea typeface="Arial"/>
                <a:cs typeface="Arial"/>
                <a:sym typeface="Arial"/>
              </a:rPr>
              <a:t>¿Qué es la violencia política?</a:t>
            </a:r>
            <a:endParaRPr/>
          </a:p>
        </p:txBody>
      </p:sp>
      <p:sp>
        <p:nvSpPr>
          <p:cNvPr id="128" name="Google Shape;128;p16"/>
          <p:cNvSpPr/>
          <p:nvPr/>
        </p:nvSpPr>
        <p:spPr>
          <a:xfrm>
            <a:off x="1234440" y="1828800"/>
            <a:ext cx="9692640" cy="1920240"/>
          </a:xfrm>
          <a:prstGeom prst="roundRect">
            <a:avLst>
              <a:gd fmla="val 16667" name="adj"/>
            </a:avLst>
          </a:prstGeom>
          <a:solidFill>
            <a:srgbClr val="1E1D30"/>
          </a:solidFill>
          <a:ln cap="flat" cmpd="sng" w="9525">
            <a:solidFill>
              <a:srgbClr val="FF667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6"/>
          <p:cNvSpPr txBox="1"/>
          <p:nvPr/>
        </p:nvSpPr>
        <p:spPr>
          <a:xfrm>
            <a:off x="1645920" y="2194560"/>
            <a:ext cx="886968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E8EEF7"/>
                </a:solidFill>
                <a:latin typeface="Arial"/>
                <a:ea typeface="Arial"/>
                <a:cs typeface="Arial"/>
                <a:sym typeface="Arial"/>
              </a:rPr>
              <a:t>Comprende acciones que buscan intimidar, obstaculizar, limitar o impedir la participación política y el ejercicio libre de los derechos.</a:t>
            </a:r>
            <a:endParaRPr/>
          </a:p>
        </p:txBody>
      </p:sp>
      <p:sp>
        <p:nvSpPr>
          <p:cNvPr id="130" name="Google Shape;130;p16"/>
          <p:cNvSpPr txBox="1"/>
          <p:nvPr/>
        </p:nvSpPr>
        <p:spPr>
          <a:xfrm>
            <a:off x="1005840" y="4343400"/>
            <a:ext cx="1014984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5EE7DF"/>
                </a:solidFill>
                <a:latin typeface="Arial"/>
                <a:ea typeface="Arial"/>
                <a:cs typeface="Arial"/>
                <a:sym typeface="Arial"/>
              </a:rPr>
              <a:t>En la era digital, las agresiones pueden difundirse con mayor velocidad, alcance y permanencia.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111F"/>
        </a:solidFill>
      </p:bgPr>
    </p:bg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7"/>
          <p:cNvSpPr txBox="1"/>
          <p:nvPr/>
        </p:nvSpPr>
        <p:spPr>
          <a:xfrm>
            <a:off x="731520" y="50292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5EE7DF"/>
                </a:solidFill>
                <a:latin typeface="Arial"/>
                <a:ea typeface="Arial"/>
                <a:cs typeface="Arial"/>
                <a:sym typeface="Arial"/>
              </a:rPr>
              <a:t>MAPA CONCEPTUAL</a:t>
            </a:r>
            <a:endParaRPr/>
          </a:p>
        </p:txBody>
      </p:sp>
      <p:sp>
        <p:nvSpPr>
          <p:cNvPr id="136" name="Google Shape;136;p17"/>
          <p:cNvSpPr txBox="1"/>
          <p:nvPr/>
        </p:nvSpPr>
        <p:spPr>
          <a:xfrm>
            <a:off x="731520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E8EEF7"/>
                </a:solidFill>
                <a:latin typeface="Arial"/>
                <a:ea typeface="Arial"/>
                <a:cs typeface="Arial"/>
                <a:sym typeface="Arial"/>
              </a:rPr>
              <a:t>Manifestaciones de la violencia política</a:t>
            </a:r>
            <a:endParaRPr/>
          </a:p>
        </p:txBody>
      </p:sp>
      <p:sp>
        <p:nvSpPr>
          <p:cNvPr id="137" name="Google Shape;137;p17"/>
          <p:cNvSpPr/>
          <p:nvPr/>
        </p:nvSpPr>
        <p:spPr>
          <a:xfrm>
            <a:off x="731520" y="1828800"/>
            <a:ext cx="3474720" cy="3383280"/>
          </a:xfrm>
          <a:prstGeom prst="roundRect">
            <a:avLst>
              <a:gd fmla="val 16667" name="adj"/>
            </a:avLst>
          </a:prstGeom>
          <a:solidFill>
            <a:srgbClr val="0C1B2E"/>
          </a:solidFill>
          <a:ln cap="flat" cmpd="sng" w="9525">
            <a:solidFill>
              <a:srgbClr val="FF667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7"/>
          <p:cNvSpPr txBox="1"/>
          <p:nvPr/>
        </p:nvSpPr>
        <p:spPr>
          <a:xfrm>
            <a:off x="960120" y="2029968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6677"/>
                </a:solidFill>
                <a:latin typeface="Arial"/>
                <a:ea typeface="Arial"/>
                <a:cs typeface="Arial"/>
                <a:sym typeface="Arial"/>
              </a:rPr>
              <a:t>Violencia directa</a:t>
            </a:r>
            <a:endParaRPr/>
          </a:p>
        </p:txBody>
      </p:sp>
      <p:sp>
        <p:nvSpPr>
          <p:cNvPr id="139" name="Google Shape;139;p17"/>
          <p:cNvSpPr txBox="1"/>
          <p:nvPr/>
        </p:nvSpPr>
        <p:spPr>
          <a:xfrm>
            <a:off x="960120" y="2606040"/>
            <a:ext cx="3017400" cy="11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• Agresiones físicas</a:t>
            </a:r>
            <a:br>
              <a:rPr b="0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• Amenazas</a:t>
            </a:r>
            <a:br>
              <a:rPr b="0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• Intimidaciones</a:t>
            </a:r>
            <a:br>
              <a:rPr b="0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• Hostigamientos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40" name="Google Shape;140;p17"/>
          <p:cNvSpPr/>
          <p:nvPr/>
        </p:nvSpPr>
        <p:spPr>
          <a:xfrm>
            <a:off x="4361688" y="1828800"/>
            <a:ext cx="3474720" cy="3383280"/>
          </a:xfrm>
          <a:prstGeom prst="roundRect">
            <a:avLst>
              <a:gd fmla="val 16667" name="adj"/>
            </a:avLst>
          </a:prstGeom>
          <a:solidFill>
            <a:srgbClr val="0C1B2E"/>
          </a:solidFill>
          <a:ln cap="flat" cmpd="sng" w="9525">
            <a:solidFill>
              <a:srgbClr val="5EE7D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7"/>
          <p:cNvSpPr txBox="1"/>
          <p:nvPr/>
        </p:nvSpPr>
        <p:spPr>
          <a:xfrm>
            <a:off x="4590288" y="2029968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5EE7DF"/>
                </a:solidFill>
                <a:latin typeface="Arial"/>
                <a:ea typeface="Arial"/>
                <a:cs typeface="Arial"/>
                <a:sym typeface="Arial"/>
              </a:rPr>
              <a:t>Psicológica y simbólica</a:t>
            </a:r>
            <a:endParaRPr/>
          </a:p>
        </p:txBody>
      </p:sp>
      <p:sp>
        <p:nvSpPr>
          <p:cNvPr id="142" name="Google Shape;142;p17"/>
          <p:cNvSpPr txBox="1"/>
          <p:nvPr/>
        </p:nvSpPr>
        <p:spPr>
          <a:xfrm>
            <a:off x="4590288" y="2606040"/>
            <a:ext cx="3017400" cy="11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• Humillaciones</a:t>
            </a:r>
            <a:br>
              <a:rPr b="0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• Desprestigio</a:t>
            </a:r>
            <a:br>
              <a:rPr b="0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• Estereotipos</a:t>
            </a:r>
            <a:br>
              <a:rPr b="0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• Mensajes discriminatorios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43" name="Google Shape;143;p17"/>
          <p:cNvSpPr/>
          <p:nvPr/>
        </p:nvSpPr>
        <p:spPr>
          <a:xfrm>
            <a:off x="7991856" y="1828800"/>
            <a:ext cx="3474720" cy="3383280"/>
          </a:xfrm>
          <a:prstGeom prst="roundRect">
            <a:avLst>
              <a:gd fmla="val 16667" name="adj"/>
            </a:avLst>
          </a:prstGeom>
          <a:solidFill>
            <a:srgbClr val="0C1B2E"/>
          </a:solidFill>
          <a:ln cap="flat" cmpd="sng" w="9525">
            <a:solidFill>
              <a:srgbClr val="FFC36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7"/>
          <p:cNvSpPr txBox="1"/>
          <p:nvPr/>
        </p:nvSpPr>
        <p:spPr>
          <a:xfrm>
            <a:off x="8220456" y="2029968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C36B"/>
                </a:solidFill>
                <a:latin typeface="Arial"/>
                <a:ea typeface="Arial"/>
                <a:cs typeface="Arial"/>
                <a:sym typeface="Arial"/>
              </a:rPr>
              <a:t>Violencia digital</a:t>
            </a:r>
            <a:endParaRPr/>
          </a:p>
        </p:txBody>
      </p:sp>
      <p:sp>
        <p:nvSpPr>
          <p:cNvPr id="145" name="Google Shape;145;p17"/>
          <p:cNvSpPr txBox="1"/>
          <p:nvPr/>
        </p:nvSpPr>
        <p:spPr>
          <a:xfrm>
            <a:off x="8220456" y="2606040"/>
            <a:ext cx="3017400" cy="11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• Ciberacoso</a:t>
            </a:r>
            <a:br>
              <a:rPr b="0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• Amenazas en línea</a:t>
            </a:r>
            <a:br>
              <a:rPr b="0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• Desinformación</a:t>
            </a:r>
            <a:br>
              <a:rPr b="0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• Ataques contra la imagen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1B2E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8"/>
          <p:cNvSpPr txBox="1"/>
          <p:nvPr/>
        </p:nvSpPr>
        <p:spPr>
          <a:xfrm>
            <a:off x="731520" y="50292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5EE7DF"/>
                </a:solidFill>
                <a:latin typeface="Arial"/>
                <a:ea typeface="Arial"/>
                <a:cs typeface="Arial"/>
                <a:sym typeface="Arial"/>
              </a:rPr>
              <a:t>PARTICIPACIÓN DESIGUAL</a:t>
            </a:r>
            <a:endParaRPr/>
          </a:p>
        </p:txBody>
      </p:sp>
      <p:sp>
        <p:nvSpPr>
          <p:cNvPr id="151" name="Google Shape;151;p18"/>
          <p:cNvSpPr txBox="1"/>
          <p:nvPr/>
        </p:nvSpPr>
        <p:spPr>
          <a:xfrm>
            <a:off x="731520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E8EEF7"/>
                </a:solidFill>
                <a:latin typeface="Arial"/>
                <a:ea typeface="Arial"/>
                <a:cs typeface="Arial"/>
                <a:sym typeface="Arial"/>
              </a:rPr>
              <a:t>¿A quiénes puede afectar de forma diferenciada?</a:t>
            </a:r>
            <a:endParaRPr/>
          </a:p>
        </p:txBody>
      </p:sp>
      <p:sp>
        <p:nvSpPr>
          <p:cNvPr id="152" name="Google Shape;152;p18"/>
          <p:cNvSpPr/>
          <p:nvPr/>
        </p:nvSpPr>
        <p:spPr>
          <a:xfrm>
            <a:off x="731520" y="1828800"/>
            <a:ext cx="3474720" cy="3383280"/>
          </a:xfrm>
          <a:prstGeom prst="roundRect">
            <a:avLst>
              <a:gd fmla="val 16667" name="adj"/>
            </a:avLst>
          </a:prstGeom>
          <a:solidFill>
            <a:srgbClr val="0C1B2E"/>
          </a:solidFill>
          <a:ln cap="flat" cmpd="sng" w="9525">
            <a:solidFill>
              <a:srgbClr val="FF667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8"/>
          <p:cNvSpPr txBox="1"/>
          <p:nvPr/>
        </p:nvSpPr>
        <p:spPr>
          <a:xfrm>
            <a:off x="960120" y="2029968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6677"/>
                </a:solidFill>
                <a:latin typeface="Arial"/>
                <a:ea typeface="Arial"/>
                <a:cs typeface="Arial"/>
                <a:sym typeface="Arial"/>
              </a:rPr>
              <a:t>Mujeres candidatas</a:t>
            </a:r>
            <a:endParaRPr/>
          </a:p>
        </p:txBody>
      </p:sp>
      <p:sp>
        <p:nvSpPr>
          <p:cNvPr id="154" name="Google Shape;154;p18"/>
          <p:cNvSpPr txBox="1"/>
          <p:nvPr/>
        </p:nvSpPr>
        <p:spPr>
          <a:xfrm>
            <a:off x="960120" y="2606040"/>
            <a:ext cx="3017520" cy="2423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A9B7CA"/>
                </a:solidFill>
                <a:latin typeface="Arial"/>
                <a:ea typeface="Arial"/>
                <a:cs typeface="Arial"/>
                <a:sym typeface="Arial"/>
              </a:rPr>
              <a:t>Pueden enfrentar estereotipos de género, ataques personales y cuestionamientos dirigidos a deslegitimar su participación.</a:t>
            </a:r>
            <a:endParaRPr/>
          </a:p>
        </p:txBody>
      </p:sp>
      <p:sp>
        <p:nvSpPr>
          <p:cNvPr id="155" name="Google Shape;155;p18"/>
          <p:cNvSpPr/>
          <p:nvPr/>
        </p:nvSpPr>
        <p:spPr>
          <a:xfrm>
            <a:off x="4361688" y="1828800"/>
            <a:ext cx="3474720" cy="3383280"/>
          </a:xfrm>
          <a:prstGeom prst="roundRect">
            <a:avLst>
              <a:gd fmla="val 16667" name="adj"/>
            </a:avLst>
          </a:prstGeom>
          <a:solidFill>
            <a:srgbClr val="0C1B2E"/>
          </a:solidFill>
          <a:ln cap="flat" cmpd="sng" w="9525">
            <a:solidFill>
              <a:srgbClr val="5EE7D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8"/>
          <p:cNvSpPr txBox="1"/>
          <p:nvPr/>
        </p:nvSpPr>
        <p:spPr>
          <a:xfrm>
            <a:off x="4590288" y="2029968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5EE7DF"/>
                </a:solidFill>
                <a:latin typeface="Arial"/>
                <a:ea typeface="Arial"/>
                <a:cs typeface="Arial"/>
                <a:sym typeface="Arial"/>
              </a:rPr>
              <a:t>Grupos diversos</a:t>
            </a:r>
            <a:endParaRPr/>
          </a:p>
        </p:txBody>
      </p:sp>
      <p:sp>
        <p:nvSpPr>
          <p:cNvPr id="157" name="Google Shape;157;p18"/>
          <p:cNvSpPr txBox="1"/>
          <p:nvPr/>
        </p:nvSpPr>
        <p:spPr>
          <a:xfrm>
            <a:off x="4590288" y="2606040"/>
            <a:ext cx="3017520" cy="2423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A9B7CA"/>
                </a:solidFill>
                <a:latin typeface="Arial"/>
                <a:ea typeface="Arial"/>
                <a:cs typeface="Arial"/>
                <a:sym typeface="Arial"/>
              </a:rPr>
              <a:t>Poblaciones afrodescendientes, pueblos indígenas y otros grupos históricamente vulnerables pueden enfrentar riesgos particulares.</a:t>
            </a:r>
            <a:endParaRPr/>
          </a:p>
        </p:txBody>
      </p:sp>
      <p:sp>
        <p:nvSpPr>
          <p:cNvPr id="158" name="Google Shape;158;p18"/>
          <p:cNvSpPr/>
          <p:nvPr/>
        </p:nvSpPr>
        <p:spPr>
          <a:xfrm>
            <a:off x="7991856" y="1828800"/>
            <a:ext cx="3474720" cy="3383280"/>
          </a:xfrm>
          <a:prstGeom prst="roundRect">
            <a:avLst>
              <a:gd fmla="val 16667" name="adj"/>
            </a:avLst>
          </a:prstGeom>
          <a:solidFill>
            <a:srgbClr val="0C1B2E"/>
          </a:solidFill>
          <a:ln cap="flat" cmpd="sng" w="9525">
            <a:solidFill>
              <a:srgbClr val="FFC36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8"/>
          <p:cNvSpPr txBox="1"/>
          <p:nvPr/>
        </p:nvSpPr>
        <p:spPr>
          <a:xfrm>
            <a:off x="8220456" y="2029968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C36B"/>
                </a:solidFill>
                <a:latin typeface="Arial"/>
                <a:ea typeface="Arial"/>
                <a:cs typeface="Arial"/>
                <a:sym typeface="Arial"/>
              </a:rPr>
              <a:t>Territorios de riesgo</a:t>
            </a:r>
            <a:endParaRPr/>
          </a:p>
        </p:txBody>
      </p:sp>
      <p:sp>
        <p:nvSpPr>
          <p:cNvPr id="160" name="Google Shape;160;p18"/>
          <p:cNvSpPr txBox="1"/>
          <p:nvPr/>
        </p:nvSpPr>
        <p:spPr>
          <a:xfrm>
            <a:off x="8220456" y="2606040"/>
            <a:ext cx="3017520" cy="2423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A9B7CA"/>
                </a:solidFill>
                <a:latin typeface="Arial"/>
                <a:ea typeface="Arial"/>
                <a:cs typeface="Arial"/>
                <a:sym typeface="Arial"/>
              </a:rPr>
              <a:t>Las condiciones territoriales y de seguridad pueden aumentar la exposición de las candidaturas a distintas formas de violencia.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111F"/>
        </a:solidFill>
      </p:bgPr>
    </p:bg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9"/>
          <p:cNvSpPr txBox="1"/>
          <p:nvPr/>
        </p:nvSpPr>
        <p:spPr>
          <a:xfrm>
            <a:off x="731520" y="50292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5EE7DF"/>
                </a:solidFill>
                <a:latin typeface="Arial"/>
                <a:ea typeface="Arial"/>
                <a:cs typeface="Arial"/>
                <a:sym typeface="Arial"/>
              </a:rPr>
              <a:t>IMPACTOS</a:t>
            </a:r>
            <a:endParaRPr/>
          </a:p>
        </p:txBody>
      </p:sp>
      <p:sp>
        <p:nvSpPr>
          <p:cNvPr id="166" name="Google Shape;166;p19"/>
          <p:cNvSpPr txBox="1"/>
          <p:nvPr/>
        </p:nvSpPr>
        <p:spPr>
          <a:xfrm>
            <a:off x="731520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E8EEF7"/>
                </a:solidFill>
                <a:latin typeface="Arial"/>
                <a:ea typeface="Arial"/>
                <a:cs typeface="Arial"/>
                <a:sym typeface="Arial"/>
              </a:rPr>
              <a:t>Consecuencias para la persona, la participación y la democracia</a:t>
            </a:r>
            <a:endParaRPr/>
          </a:p>
        </p:txBody>
      </p:sp>
      <p:sp>
        <p:nvSpPr>
          <p:cNvPr id="167" name="Google Shape;167;p19"/>
          <p:cNvSpPr/>
          <p:nvPr/>
        </p:nvSpPr>
        <p:spPr>
          <a:xfrm>
            <a:off x="731520" y="1828800"/>
            <a:ext cx="3474720" cy="3383280"/>
          </a:xfrm>
          <a:prstGeom prst="roundRect">
            <a:avLst>
              <a:gd fmla="val 16667" name="adj"/>
            </a:avLst>
          </a:prstGeom>
          <a:solidFill>
            <a:srgbClr val="0C1B2E"/>
          </a:solidFill>
          <a:ln cap="flat" cmpd="sng" w="9525">
            <a:solidFill>
              <a:srgbClr val="FF667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9"/>
          <p:cNvSpPr txBox="1"/>
          <p:nvPr/>
        </p:nvSpPr>
        <p:spPr>
          <a:xfrm>
            <a:off x="960120" y="2029968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6677"/>
                </a:solidFill>
                <a:latin typeface="Arial"/>
                <a:ea typeface="Arial"/>
                <a:cs typeface="Arial"/>
                <a:sym typeface="Arial"/>
              </a:rPr>
              <a:t>La persona</a:t>
            </a:r>
            <a:endParaRPr/>
          </a:p>
        </p:txBody>
      </p:sp>
      <p:sp>
        <p:nvSpPr>
          <p:cNvPr id="169" name="Google Shape;169;p19"/>
          <p:cNvSpPr txBox="1"/>
          <p:nvPr/>
        </p:nvSpPr>
        <p:spPr>
          <a:xfrm>
            <a:off x="960120" y="2606040"/>
            <a:ext cx="3017520" cy="2423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A9B7CA"/>
                </a:solidFill>
                <a:latin typeface="Arial"/>
                <a:ea typeface="Arial"/>
                <a:cs typeface="Arial"/>
                <a:sym typeface="Arial"/>
              </a:rPr>
              <a:t>Miedo, presión emocional, inseguridad y afectaciones al bienestar.</a:t>
            </a:r>
            <a:endParaRPr/>
          </a:p>
        </p:txBody>
      </p:sp>
      <p:sp>
        <p:nvSpPr>
          <p:cNvPr id="170" name="Google Shape;170;p19"/>
          <p:cNvSpPr/>
          <p:nvPr/>
        </p:nvSpPr>
        <p:spPr>
          <a:xfrm>
            <a:off x="4361688" y="1828800"/>
            <a:ext cx="3474720" cy="3383280"/>
          </a:xfrm>
          <a:prstGeom prst="roundRect">
            <a:avLst>
              <a:gd fmla="val 16667" name="adj"/>
            </a:avLst>
          </a:prstGeom>
          <a:solidFill>
            <a:srgbClr val="0C1B2E"/>
          </a:solidFill>
          <a:ln cap="flat" cmpd="sng" w="9525">
            <a:solidFill>
              <a:srgbClr val="5EE7D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9"/>
          <p:cNvSpPr txBox="1"/>
          <p:nvPr/>
        </p:nvSpPr>
        <p:spPr>
          <a:xfrm>
            <a:off x="4590288" y="2029968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5EE7DF"/>
                </a:solidFill>
                <a:latin typeface="Arial"/>
                <a:ea typeface="Arial"/>
                <a:cs typeface="Arial"/>
                <a:sym typeface="Arial"/>
              </a:rPr>
              <a:t>La participación</a:t>
            </a:r>
            <a:endParaRPr/>
          </a:p>
        </p:txBody>
      </p:sp>
      <p:sp>
        <p:nvSpPr>
          <p:cNvPr id="172" name="Google Shape;172;p19"/>
          <p:cNvSpPr txBox="1"/>
          <p:nvPr/>
        </p:nvSpPr>
        <p:spPr>
          <a:xfrm>
            <a:off x="4590288" y="2606040"/>
            <a:ext cx="3017520" cy="2423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A9B7CA"/>
                </a:solidFill>
                <a:latin typeface="Arial"/>
                <a:ea typeface="Arial"/>
                <a:cs typeface="Arial"/>
                <a:sym typeface="Arial"/>
              </a:rPr>
              <a:t>Desmotivación, limitaciones para hacer campaña y desigualdad electoral.</a:t>
            </a:r>
            <a:endParaRPr/>
          </a:p>
        </p:txBody>
      </p:sp>
      <p:sp>
        <p:nvSpPr>
          <p:cNvPr id="173" name="Google Shape;173;p19"/>
          <p:cNvSpPr/>
          <p:nvPr/>
        </p:nvSpPr>
        <p:spPr>
          <a:xfrm>
            <a:off x="7991856" y="1828800"/>
            <a:ext cx="3474720" cy="3383280"/>
          </a:xfrm>
          <a:prstGeom prst="roundRect">
            <a:avLst>
              <a:gd fmla="val 16667" name="adj"/>
            </a:avLst>
          </a:prstGeom>
          <a:solidFill>
            <a:srgbClr val="0C1B2E"/>
          </a:solidFill>
          <a:ln cap="flat" cmpd="sng" w="9525">
            <a:solidFill>
              <a:srgbClr val="FFC36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9"/>
          <p:cNvSpPr txBox="1"/>
          <p:nvPr/>
        </p:nvSpPr>
        <p:spPr>
          <a:xfrm>
            <a:off x="8220456" y="2029968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C36B"/>
                </a:solidFill>
                <a:latin typeface="Arial"/>
                <a:ea typeface="Arial"/>
                <a:cs typeface="Arial"/>
                <a:sym typeface="Arial"/>
              </a:rPr>
              <a:t>La democracia</a:t>
            </a:r>
            <a:endParaRPr/>
          </a:p>
        </p:txBody>
      </p:sp>
      <p:sp>
        <p:nvSpPr>
          <p:cNvPr id="175" name="Google Shape;175;p19"/>
          <p:cNvSpPr txBox="1"/>
          <p:nvPr/>
        </p:nvSpPr>
        <p:spPr>
          <a:xfrm>
            <a:off x="8220456" y="2606040"/>
            <a:ext cx="3017520" cy="2423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A9B7CA"/>
                </a:solidFill>
                <a:latin typeface="Arial"/>
                <a:ea typeface="Arial"/>
                <a:cs typeface="Arial"/>
                <a:sym typeface="Arial"/>
              </a:rPr>
              <a:t>Menor pluralidad, exclusión de voces y debilitamiento de la participación política.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1B2E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0"/>
          <p:cNvSpPr txBox="1"/>
          <p:nvPr/>
        </p:nvSpPr>
        <p:spPr>
          <a:xfrm>
            <a:off x="731520" y="50292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5EE7DF"/>
                </a:solidFill>
                <a:latin typeface="Arial"/>
                <a:ea typeface="Arial"/>
                <a:cs typeface="Arial"/>
                <a:sym typeface="Arial"/>
              </a:rPr>
              <a:t>CIERRE</a:t>
            </a:r>
            <a:endParaRPr/>
          </a:p>
        </p:txBody>
      </p:sp>
      <p:sp>
        <p:nvSpPr>
          <p:cNvPr id="181" name="Google Shape;181;p20"/>
          <p:cNvSpPr txBox="1"/>
          <p:nvPr/>
        </p:nvSpPr>
        <p:spPr>
          <a:xfrm>
            <a:off x="731520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E8EEF7"/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  <a:endParaRPr/>
          </a:p>
        </p:txBody>
      </p:sp>
      <p:sp>
        <p:nvSpPr>
          <p:cNvPr id="182" name="Google Shape;182;p20"/>
          <p:cNvSpPr txBox="1"/>
          <p:nvPr/>
        </p:nvSpPr>
        <p:spPr>
          <a:xfrm>
            <a:off x="914400" y="1828800"/>
            <a:ext cx="102412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5EE7DF"/>
                </a:solidFill>
                <a:latin typeface="Arial"/>
                <a:ea typeface="Arial"/>
                <a:cs typeface="Arial"/>
                <a:sym typeface="Arial"/>
              </a:rPr>
              <a:t>La tecnología transforma la participación democrática.</a:t>
            </a:r>
            <a:endParaRPr/>
          </a:p>
        </p:txBody>
      </p:sp>
      <p:sp>
        <p:nvSpPr>
          <p:cNvPr id="183" name="Google Shape;183;p20"/>
          <p:cNvSpPr txBox="1"/>
          <p:nvPr/>
        </p:nvSpPr>
        <p:spPr>
          <a:xfrm>
            <a:off x="1097280" y="2743200"/>
            <a:ext cx="98755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E8EEF7"/>
                </a:solidFill>
                <a:latin typeface="Arial"/>
                <a:ea typeface="Arial"/>
                <a:cs typeface="Arial"/>
                <a:sym typeface="Arial"/>
              </a:rPr>
              <a:t>Los entornos digitales amplían la comunicación y el acceso a la información, pero también pueden facilitar nuevas formas de violencia política.</a:t>
            </a:r>
            <a:endParaRPr/>
          </a:p>
        </p:txBody>
      </p:sp>
      <p:sp>
        <p:nvSpPr>
          <p:cNvPr id="184" name="Google Shape;184;p20"/>
          <p:cNvSpPr txBox="1"/>
          <p:nvPr/>
        </p:nvSpPr>
        <p:spPr>
          <a:xfrm>
            <a:off x="1097280" y="3886200"/>
            <a:ext cx="98755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E8EEF7"/>
                </a:solidFill>
                <a:latin typeface="Arial"/>
                <a:ea typeface="Arial"/>
                <a:cs typeface="Arial"/>
                <a:sym typeface="Arial"/>
              </a:rPr>
              <a:t>Prevenir la violencia política significa proteger a las personas, la igualdad electoral y la diversidad de voces.</a:t>
            </a:r>
            <a:endParaRPr/>
          </a:p>
        </p:txBody>
      </p:sp>
      <p:sp>
        <p:nvSpPr>
          <p:cNvPr id="185" name="Google Shape;185;p20"/>
          <p:cNvSpPr txBox="1"/>
          <p:nvPr/>
        </p:nvSpPr>
        <p:spPr>
          <a:xfrm>
            <a:off x="1097280" y="5074920"/>
            <a:ext cx="98755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FC36B"/>
                </a:solidFill>
                <a:latin typeface="Arial"/>
                <a:ea typeface="Arial"/>
                <a:cs typeface="Arial"/>
                <a:sym typeface="Arial"/>
              </a:rPr>
              <a:t>Una democracia digital más segura requiere pensamiento crítico, responsabilidad y garantías para participar.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7111F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1"/>
          <p:cNvSpPr txBox="1"/>
          <p:nvPr/>
        </p:nvSpPr>
        <p:spPr>
          <a:xfrm>
            <a:off x="731520" y="50292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5EE7DF"/>
                </a:solidFill>
                <a:latin typeface="Arial"/>
                <a:ea typeface="Arial"/>
                <a:cs typeface="Arial"/>
                <a:sym typeface="Arial"/>
              </a:rPr>
              <a:t>FUENTES</a:t>
            </a:r>
            <a:endParaRPr/>
          </a:p>
        </p:txBody>
      </p:sp>
      <p:sp>
        <p:nvSpPr>
          <p:cNvPr id="191" name="Google Shape;191;p21"/>
          <p:cNvSpPr txBox="1"/>
          <p:nvPr/>
        </p:nvSpPr>
        <p:spPr>
          <a:xfrm>
            <a:off x="731520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E8EEF7"/>
                </a:solidFill>
                <a:latin typeface="Arial"/>
                <a:ea typeface="Arial"/>
                <a:cs typeface="Arial"/>
                <a:sym typeface="Arial"/>
              </a:rPr>
              <a:t>Referencias bibliográficas</a:t>
            </a:r>
            <a:endParaRPr/>
          </a:p>
        </p:txBody>
      </p:sp>
      <p:sp>
        <p:nvSpPr>
          <p:cNvPr id="192" name="Google Shape;192;p21"/>
          <p:cNvSpPr txBox="1"/>
          <p:nvPr/>
        </p:nvSpPr>
        <p:spPr>
          <a:xfrm>
            <a:off x="914400" y="1828800"/>
            <a:ext cx="10241400" cy="17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Misión de Observación Electoral. (2022). Encuesta sobre experiencias de campaña y violencia política a candidaturas al Congreso 2022.</a:t>
            </a:r>
            <a:br>
              <a:rPr b="0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La Pulla. (s. f.). Los asesinatos que a NADIE le importan [Video]. YouTube.</a:t>
            </a:r>
            <a:br>
              <a:rPr b="0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 PAÍS. (2025, 22 de junio). ¿Por qué no hemos podido erradicar la violencia política? [Podcast].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93" name="Google Shape;193;p21"/>
          <p:cNvSpPr txBox="1"/>
          <p:nvPr/>
        </p:nvSpPr>
        <p:spPr>
          <a:xfrm>
            <a:off x="914400" y="5577840"/>
            <a:ext cx="102412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A9B7CA"/>
                </a:solidFill>
                <a:latin typeface="Arial"/>
                <a:ea typeface="Arial"/>
                <a:cs typeface="Arial"/>
                <a:sym typeface="Arial"/>
              </a:rPr>
              <a:t>Los enlaces completos se encuentran en el documento académico y en el sitio web del proyecto.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